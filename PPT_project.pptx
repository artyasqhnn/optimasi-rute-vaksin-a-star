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3" r:id="rId5"/>
    <p:sldId id="264" r:id="rId6"/>
    <p:sldId id="259" r:id="rId7"/>
    <p:sldId id="260" r:id="rId8"/>
    <p:sldId id="265" r:id="rId9"/>
    <p:sldId id="261" r:id="rId10"/>
    <p:sldId id="266" r:id="rId11"/>
    <p:sldId id="262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072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097280"/>
            <a:ext cx="4572000" cy="4572000"/>
          </a:xfrm>
          <a:prstGeom prst="ellipse">
            <a:avLst/>
          </a:prstGeom>
          <a:solidFill>
            <a:srgbClr val="2F6BFF">
              <a:alpha val="20000"/>
            </a:srgbClr>
          </a:solidFill>
          <a:ln w="12700">
            <a:solidFill>
              <a:srgbClr val="2F6B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2926080" cy="292608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144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Optimasi Rute Distribusi Vaksin ke Puskesmas Kabupaten Sleman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Algoritma A* dan Batasan Cold Chain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Nazwa Nazira (24/536067/TK/59500)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Maulida Musyarofah (24/541445/TK/60064)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Artya Asqishan (24/535530/TK/59417)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Vaksin sensitif terhadap suhu dan waktu. Medan Sleman beragam, dari dataran kota (Depok, Mlati, Gamping) sampai lereng Merapi (Turi, Cangkringan), dan hujan memperlambat perjalanan.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057400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Rute tercepat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546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menentukan rute tercepat dari depo ke puskesmas pada graf berbobot jaringan jalan Sleman?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82880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2057400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Pengaruh cuaca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1546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memasukkan hujan ke waktu tempuh tanpa merusak sifat admissible heuristik?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2057400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Batas cold chain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1546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rute tercepat masih memenuhi batas ketahanan wadah angkut yang dipilih?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Formalisasi Masalah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di graf: depo atau salah satu dari 7 puskesmas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7472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28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Pindah ke node tetangga yang terhubung langsung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6364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828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c(u,v) = waktu ruas × faktor cuaca; g(n) = akumulasi dari depo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TEST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520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saat ini = puskesmas tujuan yang dipilih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29718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47472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520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= jarak Haversine ÷ 40 km/jam × faktor cuaca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29718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26364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520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g(goal) + loading 30 mnt ≤ batas wadah angkut → AMAN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0B2545"/>
                </a:solidFill>
                <a:latin typeface="Cambria"/>
              </a:rPr>
              <a:t>Data dan Graf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291840" cy="3291840"/>
          </a:xfrm>
          <a:prstGeom prst="roundRect">
            <a:avLst>
              <a:gd name="adj" fmla="val 706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1" spc="200">
                <a:solidFill>
                  <a:srgbClr val="2F6BFF"/>
                </a:solidFill>
                <a:latin typeface="Calibri"/>
              </a:rPr>
              <a:t>8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283464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B2B45"/>
                </a:solidFill>
                <a:latin typeface="Calibri"/>
              </a:rPr>
              <a:t>Depo Dinkes Sleman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B2B45"/>
                </a:solidFill>
                <a:latin typeface="Calibri"/>
              </a:rPr>
              <a:t>Puskesmas Mlati I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B2B45"/>
                </a:solidFill>
                <a:latin typeface="Calibri"/>
              </a:rPr>
              <a:t>Puskesmas Depok I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B2B45"/>
                </a:solidFill>
                <a:latin typeface="Calibri"/>
              </a:rPr>
              <a:t>Puskesmas Gamping I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B2B45"/>
                </a:solidFill>
                <a:latin typeface="Calibri"/>
              </a:rPr>
              <a:t>Puskesmas Kalasan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B2B45"/>
                </a:solidFill>
                <a:latin typeface="Calibri"/>
              </a:rPr>
              <a:t>Puskesmas Prambanan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B2B45"/>
                </a:solidFill>
                <a:latin typeface="Calibri"/>
              </a:rPr>
              <a:t>Puskesmas Turi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B2B45"/>
                </a:solidFill>
                <a:latin typeface="Calibri"/>
              </a:rPr>
              <a:t>Puskesmas Cangkringan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188720"/>
            <a:ext cx="4754880" cy="3291840"/>
          </a:xfrm>
          <a:prstGeom prst="roundRect">
            <a:avLst>
              <a:gd name="adj" fmla="val 706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69080" y="1325880"/>
          <a:ext cx="448056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Ruas</a:t>
                      </a:r>
                    </a:p>
                  </a:txBody>
                  <a:tcPr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Menit</a:t>
                      </a:r>
                    </a:p>
                  </a:txBody>
                  <a:tcPr marT="18288" marB="18288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Depo – Mlati I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Depo – Turi</a:t>
                      </a:r>
                    </a:p>
                  </a:txBody>
                  <a:tcPr marT="18288" marB="18288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T="18288" marB="18288" anchor="ctr"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Depo – Gamping I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Depo – Depok I</a:t>
                      </a:r>
                    </a:p>
                  </a:txBody>
                  <a:tcPr marT="18288" marB="18288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T="18288" marB="18288" anchor="ctr"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Mlati I – Depok I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Mlati I – Gamping I</a:t>
                      </a:r>
                    </a:p>
                  </a:txBody>
                  <a:tcPr marT="18288" marB="18288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T="18288" marB="18288" anchor="ctr"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Depok I – Kalasan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Kalasan – Prambanan</a:t>
                      </a:r>
                    </a:p>
                  </a:txBody>
                  <a:tcPr marT="18288" marB="18288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18288" marB="18288" anchor="ctr"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Kalasan – Cangkringan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Prambanan – Cangkringan</a:t>
                      </a:r>
                    </a:p>
                  </a:txBody>
                  <a:tcPr marT="18288" marB="18288" anchor="ctr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T="18288" marB="18288" anchor="ctr"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Turi – Cangkringan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B45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B6B82"/>
                </a:solidFill>
                <a:latin typeface="Calibri"/>
              </a:rPr>
              <a:t>Waktu tempuh adalah input dataset model kelompok (simetris), bukan lalu lintas real-time. Garis graf adalah koneksi abstrak, bukan geometri jalan.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0B2545"/>
                </a:solidFill>
                <a:latin typeface="Cambria"/>
              </a:rPr>
              <a:t>Parameter Cold 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651760" cy="1371600"/>
          </a:xfrm>
          <a:prstGeom prst="roundRect">
            <a:avLst>
              <a:gd name="adj" fmla="val 706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63039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1" spc="200">
                <a:solidFill>
                  <a:srgbClr val="2F6BFF"/>
                </a:solidFill>
                <a:latin typeface="Calibri"/>
              </a:rPr>
              <a:t>FAKTOR CUACA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B2B45"/>
                </a:solidFill>
                <a:latin typeface="Calibri"/>
              </a:rPr>
              <a:t>Cerah × 1,0 dan hujan × 1,2 (perlambatan 20% pada semua ruas)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280160"/>
            <a:ext cx="2651760" cy="1371600"/>
          </a:xfrm>
          <a:prstGeom prst="roundRect">
            <a:avLst>
              <a:gd name="adj" fmla="val 706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0" y="1463039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1" spc="200">
                <a:solidFill>
                  <a:srgbClr val="2F6BFF"/>
                </a:solidFill>
                <a:latin typeface="Calibri"/>
              </a:rPr>
              <a:t>WAKTU LOADING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B2B45"/>
                </a:solidFill>
                <a:latin typeface="Calibri"/>
              </a:rPr>
              <a:t>30 menit untuk packing cold box dan administrasi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2651760" cy="1371600"/>
          </a:xfrm>
          <a:prstGeom prst="roundRect">
            <a:avLst>
              <a:gd name="adj" fmla="val 706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463039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1" spc="200">
                <a:solidFill>
                  <a:srgbClr val="2F6BFF"/>
                </a:solidFill>
                <a:latin typeface="Calibri"/>
              </a:rPr>
              <a:t>VACCINE CARRIER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28800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B2B45"/>
                </a:solidFill>
                <a:latin typeface="Calibri"/>
              </a:rPr>
              <a:t>Batas ≤ 12 jam (720 menit), untuk pengiriman rutin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88920"/>
            <a:ext cx="2651760" cy="1371600"/>
          </a:xfrm>
          <a:prstGeom prst="roundRect">
            <a:avLst>
              <a:gd name="adj" fmla="val 706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1" spc="200">
                <a:solidFill>
                  <a:srgbClr val="2F6BFF"/>
                </a:solidFill>
                <a:latin typeface="Calibri"/>
              </a:rPr>
              <a:t>COLD 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37560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B2B45"/>
                </a:solidFill>
                <a:latin typeface="Calibri"/>
              </a:rPr>
              <a:t>Batas ≤ 48 jam (2880 menit), untuk skala besar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788920"/>
            <a:ext cx="2651760" cy="1371600"/>
          </a:xfrm>
          <a:prstGeom prst="roundRect">
            <a:avLst>
              <a:gd name="adj" fmla="val 706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2971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1" spc="200">
                <a:solidFill>
                  <a:srgbClr val="2F6BFF"/>
                </a:solidFill>
                <a:latin typeface="Calibri"/>
              </a:rPr>
              <a:t>FREEZE SENSITIVE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337560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B2B45"/>
                </a:solidFill>
                <a:latin typeface="Calibri"/>
              </a:rPr>
              <a:t>HB, DPT-HB-Hib, IPV, DT, Td. Rusak instan jika membeku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788920"/>
            <a:ext cx="2651760" cy="1371600"/>
          </a:xfrm>
          <a:prstGeom prst="roundRect">
            <a:avLst>
              <a:gd name="adj" fmla="val 706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2971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1" spc="200">
                <a:solidFill>
                  <a:srgbClr val="2F6BFF"/>
                </a:solidFill>
                <a:latin typeface="Calibri"/>
              </a:rPr>
              <a:t>HEAT SENSITIVE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337560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B2B45"/>
                </a:solidFill>
                <a:latin typeface="Calibri"/>
              </a:rPr>
              <a:t>BCG, Campak/MR, OPV. Disimpan beku di gudang pusat, toleran suhu beku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B6B82"/>
                </a:solidFill>
                <a:latin typeface="Calibri"/>
              </a:rPr>
              <a:t>Batas wadah dari Kemenkes (diambil batas bawah rentang). Kategori vaksin baru berupa informasi konteks, belum masuk hitungan kelayakan.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Sistem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828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08760"/>
            <a:ext cx="411480" cy="4114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5915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Tujuan, vaksin, wadah angkut, dan cuaca dari sidebar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04288" y="2212848"/>
            <a:ext cx="283464" cy="0"/>
          </a:xfrm>
          <a:prstGeom prst="line">
            <a:avLst/>
          </a:prstGeom>
          <a:noFill/>
          <a:ln w="31750">
            <a:solidFill>
              <a:srgbClr val="2F6B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06040" y="1325880"/>
            <a:ext cx="1828800" cy="1783080"/>
          </a:xfrm>
          <a:prstGeom prst="roundRect">
            <a:avLst>
              <a:gd name="adj" fmla="val 6154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508760"/>
            <a:ext cx="411480" cy="41148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889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Search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235915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= g(n) + h(n) pada graf 8 node dan 11 ruas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53128" y="2212848"/>
            <a:ext cx="283464" cy="0"/>
          </a:xfrm>
          <a:prstGeom prst="line">
            <a:avLst/>
          </a:prstGeom>
          <a:noFill/>
          <a:ln w="31750">
            <a:solidFill>
              <a:srgbClr val="2F6BF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54880" y="1325880"/>
            <a:ext cx="1828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508760"/>
            <a:ext cx="411480" cy="4114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Cek cold chain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35915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tempuh + loading 30 mnt dibanding batas wadah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01968" y="2212848"/>
            <a:ext cx="283464" cy="0"/>
          </a:xfrm>
          <a:prstGeom prst="line">
            <a:avLst/>
          </a:prstGeom>
          <a:noFill/>
          <a:ln w="31750">
            <a:solidFill>
              <a:srgbClr val="2F6B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903720" y="1325880"/>
            <a:ext cx="1828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86600" y="1508760"/>
            <a:ext cx="411480" cy="4114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866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235915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AMAN / BERISIKO, timeline, dan peta rute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E6F0FF"/>
          </a:solidFill>
          <a:ln w="12700">
            <a:solidFill>
              <a:srgbClr val="E6F0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4008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web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858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folium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46120" y="342900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E6F0FF"/>
          </a:solidFill>
          <a:ln w="12700">
            <a:solidFill>
              <a:srgbClr val="E6F0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34290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jalan asli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429000" y="3858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OSRM, cadangan garis lurus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035040" y="342900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E6F0FF"/>
          </a:solidFill>
          <a:ln w="12700">
            <a:solidFill>
              <a:srgbClr val="E6F0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21792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wadah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3858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≤ 12 jam, Cold Box ≤ 48 jam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dan Heuristik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= g(n) + h(n)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F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= Haversine(n, tujuan) ÷ 40 km/jam × 60 × faktor cuaca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34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node dengan f terkecil dari priority queue (heapq)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Perbarui g tetangga bila ditemukan biaya lebih kecil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Berhenti saat node tujuan diambil; jalur disusun dari parent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160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Admissible: garis lurus tidak pernah lebih lama dari jalan sebenarnya, dan faktor cuaca dikalikan pada g dan 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234440"/>
            <a:ext cx="374904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16636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Bukti A* memilih benar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 → Gamping 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103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2A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r>
              <a:rPr lang="en-US" sz="1400" dirty="0">
                <a:solidFill>
                  <a:srgbClr val="1B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menit langsung (dipilih)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3017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9AA8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r>
              <a:rPr lang="en-US" sz="1400" dirty="0">
                <a:solidFill>
                  <a:srgbClr val="1B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menit via Mlati I (9 + 16)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4023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mengikuti biaya terkecil, bukan urutan input graf.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31E52B17-45C9-4811-CB3A-2E7506EED708}"/>
              </a:ext>
            </a:extLst>
          </p:cNvPr>
          <p:cNvSpPr/>
          <p:nvPr/>
        </p:nvSpPr>
        <p:spPr>
          <a:xfrm>
            <a:off x="5544922" y="2847442"/>
            <a:ext cx="3343046" cy="1009497"/>
          </a:xfrm>
          <a:prstGeom prst="roundRect">
            <a:avLst>
              <a:gd name="adj" fmla="val 706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1">
            <a:extLst>
              <a:ext uri="{FF2B5EF4-FFF2-40B4-BE49-F238E27FC236}">
                <a16:creationId xmlns:a16="http://schemas.microsoft.com/office/drawing/2014/main" id="{7E72D625-7053-AFB3-1C72-FC44BD0C1072}"/>
              </a:ext>
            </a:extLst>
          </p:cNvPr>
          <p:cNvSpPr/>
          <p:nvPr/>
        </p:nvSpPr>
        <p:spPr>
          <a:xfrm>
            <a:off x="5544922" y="1715416"/>
            <a:ext cx="3343046" cy="1009497"/>
          </a:xfrm>
          <a:prstGeom prst="roundRect">
            <a:avLst>
              <a:gd name="adj" fmla="val 706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1">
            <a:extLst>
              <a:ext uri="{FF2B5EF4-FFF2-40B4-BE49-F238E27FC236}">
                <a16:creationId xmlns:a16="http://schemas.microsoft.com/office/drawing/2014/main" id="{82CFEC41-E53B-8B70-6D0B-288A8C88B243}"/>
              </a:ext>
            </a:extLst>
          </p:cNvPr>
          <p:cNvSpPr/>
          <p:nvPr/>
        </p:nvSpPr>
        <p:spPr>
          <a:xfrm>
            <a:off x="5544922" y="598021"/>
            <a:ext cx="3343046" cy="1009497"/>
          </a:xfrm>
          <a:prstGeom prst="roundRect">
            <a:avLst>
              <a:gd name="adj" fmla="val 706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308153" y="183917"/>
            <a:ext cx="822960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200" b="1" dirty="0" err="1">
                <a:solidFill>
                  <a:srgbClr val="0B2545"/>
                </a:solidFill>
                <a:latin typeface="Cambria"/>
              </a:rPr>
              <a:t>Tampilan</a:t>
            </a:r>
            <a:r>
              <a:rPr sz="3200" b="1" dirty="0">
                <a:solidFill>
                  <a:srgbClr val="0B2545"/>
                </a:solidFill>
                <a:latin typeface="Cambria"/>
              </a:rPr>
              <a:t> </a:t>
            </a:r>
            <a:r>
              <a:rPr lang="en-US" sz="3200" b="1" dirty="0">
                <a:solidFill>
                  <a:srgbClr val="0B2545"/>
                </a:solidFill>
                <a:latin typeface="Cambria"/>
              </a:rPr>
              <a:t>Web</a:t>
            </a:r>
            <a:endParaRPr sz="3200" b="1" dirty="0">
              <a:solidFill>
                <a:srgbClr val="0B2545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33365" y="654732"/>
            <a:ext cx="35661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spc="200" dirty="0">
                <a:solidFill>
                  <a:srgbClr val="2F6BFF"/>
                </a:solidFill>
                <a:latin typeface="Calibri"/>
              </a:rPr>
              <a:t>INPUT DI SIDEBAR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82159" y="887481"/>
            <a:ext cx="362285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dirty="0" err="1">
                <a:solidFill>
                  <a:srgbClr val="1B2B45"/>
                </a:solidFill>
                <a:latin typeface="Calibri"/>
              </a:rPr>
              <a:t>Pengguna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memilih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puskesmas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tujuan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jenis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vaksin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wadah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angkut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, dan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kondisi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cuaca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3365" y="2895525"/>
            <a:ext cx="35661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spc="200" dirty="0">
                <a:solidFill>
                  <a:srgbClr val="2F6BFF"/>
                </a:solidFill>
                <a:latin typeface="Calibri"/>
              </a:rP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51" y="3069953"/>
            <a:ext cx="310438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dirty="0" err="1">
                <a:solidFill>
                  <a:srgbClr val="1B2B45"/>
                </a:solidFill>
                <a:latin typeface="Calibri"/>
              </a:rPr>
              <a:t>Tombol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Cari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rute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terbaik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menjalankan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A*,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lalu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menampilkan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status AMAN / BERISIKO dan timeline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rute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8851" y="1767555"/>
            <a:ext cx="35661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spc="200" dirty="0">
                <a:solidFill>
                  <a:srgbClr val="2F6BFF"/>
                </a:solidFill>
                <a:latin typeface="Calibri"/>
              </a:rPr>
              <a:t>PETA JALAN ASLI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2062" y="1952558"/>
            <a:ext cx="3343046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dirty="0">
                <a:solidFill>
                  <a:srgbClr val="1B2B45"/>
                </a:solidFill>
                <a:latin typeface="Calibri"/>
              </a:rPr>
              <a:t>Peta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interaktif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(folium)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menggambar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rute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mengikuti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jalan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sebenarnya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lewat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OSRM,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dengan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cadangan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garis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lurus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44922" y="3979468"/>
            <a:ext cx="3343046" cy="1009497"/>
          </a:xfrm>
          <a:prstGeom prst="roundRect">
            <a:avLst>
              <a:gd name="adj" fmla="val 706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33365" y="4053310"/>
            <a:ext cx="35661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spc="200" dirty="0">
                <a:solidFill>
                  <a:srgbClr val="2F6BFF"/>
                </a:solidFill>
                <a:latin typeface="Calibri"/>
              </a:rPr>
              <a:t>NAVIGASI LAPANGAN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8808" y="4251195"/>
            <a:ext cx="3335274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dirty="0" err="1">
                <a:solidFill>
                  <a:srgbClr val="1B2B45"/>
                </a:solidFill>
                <a:latin typeface="Calibri"/>
              </a:rPr>
              <a:t>Tautan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langsung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ke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Google Maps Directions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sebagai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pembanding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dan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alat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bantu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petugas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B2B45"/>
                </a:solidFill>
                <a:latin typeface="Calibri"/>
              </a:rPr>
              <a:t>pengiriman</a:t>
            </a:r>
            <a:r>
              <a:rPr sz="1400" b="0" dirty="0">
                <a:solidFill>
                  <a:srgbClr val="1B2B45"/>
                </a:solidFill>
                <a:latin typeface="Calibri"/>
              </a:rPr>
              <a:t>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BE22B0D-BA99-0D24-4AA9-5931E752BA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6"/>
          <a:stretch/>
        </p:blipFill>
        <p:spPr>
          <a:xfrm>
            <a:off x="278892" y="865536"/>
            <a:ext cx="4886226" cy="22305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1B2153B-F424-A1AD-EE9A-F5B623069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62" y="2895525"/>
            <a:ext cx="4882224" cy="22305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Pengujian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6126480" cy="313182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Tujuan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Rute A*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Cerah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tempuh /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Hujan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tempuh /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Mlati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 → Mlati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 / 40,8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2A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Depok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 → Depok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/ 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26,4 / 56,4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2A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Gamping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 → Gamping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/ 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25,2 / 55,2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2A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Kalasan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 → Depok I → Kalasan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/ 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38,4 / 68,4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2A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Prambanan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 → Depok I → Kalasan → Prambanan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/ 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50,4 / 80,4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2A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 → Turi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/ 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21,6 / 51,6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2A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Cangkringan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 → Turi → Cangkringan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/ 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45,6 / 75,6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2A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434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waktu tempuh + loading 30 menit (menit).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858000" y="1143000"/>
            <a:ext cx="1828800" cy="1051560"/>
          </a:xfrm>
          <a:prstGeom prst="roundRect">
            <a:avLst>
              <a:gd name="adj" fmla="val 1043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995160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2400" dirty="0"/>
          </a:p>
        </p:txBody>
      </p:sp>
      <p:sp>
        <p:nvSpPr>
          <p:cNvPr id="3" name="Text 4"/>
          <p:cNvSpPr txBox="1"/>
          <p:nvPr/>
        </p:nvSpPr>
        <p:spPr>
          <a:xfrm>
            <a:off x="6995160" y="17465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berstatus AMAN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0" y="2313432"/>
            <a:ext cx="1828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995160" y="24048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6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 – 80,4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29169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menit total, semua skenario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3483864"/>
            <a:ext cx="1828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995160" y="357530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6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720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40873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menit batas Vaccine Carrier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0B2545"/>
                </a:solidFill>
                <a:latin typeface="Cambria"/>
              </a:rPr>
              <a:t>Implementasi Kode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212080" cy="3291840"/>
          </a:xfrm>
          <a:prstGeom prst="roundRect">
            <a:avLst>
              <a:gd name="adj" fmla="val 7060"/>
            </a:avLst>
          </a:prstGeom>
          <a:solidFill>
            <a:srgbClr val="0B2545"/>
          </a:solidFill>
          <a:ln w="12700">
            <a:solidFill>
              <a:srgbClr val="0B2545"/>
            </a:solidFill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484632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100" b="0" dirty="0">
                <a:solidFill>
                  <a:srgbClr val="DCE8FF"/>
                </a:solidFill>
                <a:latin typeface="Courier New"/>
              </a:rPr>
              <a:t>h(n) = haversine(n, goal) / 40 * 60 *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cuaca</a:t>
            </a:r>
            <a:endParaRPr sz="1100" b="0" dirty="0">
              <a:solidFill>
                <a:srgbClr val="DCE8FF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endParaRPr sz="1100" b="0" dirty="0">
              <a:solidFill>
                <a:srgbClr val="DCE8FF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DCE8FF"/>
                </a:solidFill>
                <a:latin typeface="Courier New"/>
              </a:rPr>
              <a:t>open =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priority_queue</a:t>
            </a:r>
            <a:r>
              <a:rPr sz="1100" b="0" dirty="0">
                <a:solidFill>
                  <a:srgbClr val="DCE8FF"/>
                </a:solidFill>
                <a:latin typeface="Courier New"/>
              </a:rPr>
              <a:t>([(h(start), start)])</a:t>
            </a: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DCE8FF"/>
                </a:solidFill>
                <a:latin typeface="Courier New"/>
              </a:rPr>
              <a:t>g[start] = 0</a:t>
            </a: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DCE8FF"/>
                </a:solidFill>
                <a:latin typeface="Courier New"/>
              </a:rPr>
              <a:t>while open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tidak</a:t>
            </a:r>
            <a:r>
              <a:rPr sz="1100" b="0" dirty="0">
                <a:solidFill>
                  <a:srgbClr val="DCE8FF"/>
                </a:solidFill>
                <a:latin typeface="Courier New"/>
              </a:rPr>
              <a:t>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kosong</a:t>
            </a:r>
            <a:r>
              <a:rPr sz="1100" b="0" dirty="0">
                <a:solidFill>
                  <a:srgbClr val="DCE8FF"/>
                </a:solidFill>
                <a:latin typeface="Courier New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DCE8FF"/>
                </a:solidFill>
                <a:latin typeface="Courier New"/>
              </a:rPr>
              <a:t>    n = node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dengan</a:t>
            </a:r>
            <a:r>
              <a:rPr sz="1100" b="0" dirty="0">
                <a:solidFill>
                  <a:srgbClr val="DCE8FF"/>
                </a:solidFill>
                <a:latin typeface="Courier New"/>
              </a:rPr>
              <a:t> f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terkecil</a:t>
            </a:r>
            <a:endParaRPr sz="1100" b="0" dirty="0">
              <a:solidFill>
                <a:srgbClr val="DCE8FF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DCE8FF"/>
                </a:solidFill>
                <a:latin typeface="Courier New"/>
              </a:rPr>
              <a:t>   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jika</a:t>
            </a:r>
            <a:r>
              <a:rPr sz="1100" b="0" dirty="0">
                <a:solidFill>
                  <a:srgbClr val="DCE8FF"/>
                </a:solidFill>
                <a:latin typeface="Courier New"/>
              </a:rPr>
              <a:t> n == goal: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susun</a:t>
            </a:r>
            <a:r>
              <a:rPr sz="1100" b="0" dirty="0">
                <a:solidFill>
                  <a:srgbClr val="DCE8FF"/>
                </a:solidFill>
                <a:latin typeface="Courier New"/>
              </a:rPr>
              <a:t>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jalur</a:t>
            </a:r>
            <a:r>
              <a:rPr sz="1100" b="0" dirty="0">
                <a:solidFill>
                  <a:srgbClr val="DCE8FF"/>
                </a:solidFill>
                <a:latin typeface="Courier New"/>
              </a:rPr>
              <a:t>,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selesai</a:t>
            </a:r>
            <a:endParaRPr sz="1100" b="0" dirty="0">
              <a:solidFill>
                <a:srgbClr val="DCE8FF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DCE8FF"/>
                </a:solidFill>
                <a:latin typeface="Courier New"/>
              </a:rPr>
              <a:t>   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untuk</a:t>
            </a:r>
            <a:r>
              <a:rPr sz="1100" b="0" dirty="0">
                <a:solidFill>
                  <a:srgbClr val="DCE8FF"/>
                </a:solidFill>
                <a:latin typeface="Courier New"/>
              </a:rPr>
              <a:t>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tiap</a:t>
            </a:r>
            <a:r>
              <a:rPr sz="1100" b="0" dirty="0">
                <a:solidFill>
                  <a:srgbClr val="DCE8FF"/>
                </a:solidFill>
                <a:latin typeface="Courier New"/>
              </a:rPr>
              <a:t>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tetangga</a:t>
            </a:r>
            <a:r>
              <a:rPr sz="1100" b="0" dirty="0">
                <a:solidFill>
                  <a:srgbClr val="DCE8FF"/>
                </a:solidFill>
                <a:latin typeface="Courier New"/>
              </a:rPr>
              <a:t> v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dari</a:t>
            </a:r>
            <a:r>
              <a:rPr sz="1100" b="0" dirty="0">
                <a:solidFill>
                  <a:srgbClr val="DCE8FF"/>
                </a:solidFill>
                <a:latin typeface="Courier New"/>
              </a:rPr>
              <a:t> n:</a:t>
            </a: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DCE8FF"/>
                </a:solidFill>
                <a:latin typeface="Courier New"/>
              </a:rPr>
              <a:t>       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g_baru</a:t>
            </a:r>
            <a:r>
              <a:rPr sz="1100" b="0" dirty="0">
                <a:solidFill>
                  <a:srgbClr val="DCE8FF"/>
                </a:solidFill>
                <a:latin typeface="Courier New"/>
              </a:rPr>
              <a:t> = g[n] +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waktu</a:t>
            </a:r>
            <a:r>
              <a:rPr sz="1100" b="0" dirty="0">
                <a:solidFill>
                  <a:srgbClr val="DCE8FF"/>
                </a:solidFill>
                <a:latin typeface="Courier New"/>
              </a:rPr>
              <a:t>(n, v) *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cuaca</a:t>
            </a:r>
            <a:endParaRPr sz="1100" b="0" dirty="0">
              <a:solidFill>
                <a:srgbClr val="DCE8FF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DCE8FF"/>
                </a:solidFill>
                <a:latin typeface="Courier New"/>
              </a:rPr>
              <a:t>       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jika</a:t>
            </a:r>
            <a:r>
              <a:rPr sz="1100" b="0" dirty="0">
                <a:solidFill>
                  <a:srgbClr val="DCE8FF"/>
                </a:solidFill>
                <a:latin typeface="Courier New"/>
              </a:rPr>
              <a:t>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g_baru</a:t>
            </a:r>
            <a:r>
              <a:rPr sz="1100" b="0" dirty="0">
                <a:solidFill>
                  <a:srgbClr val="DCE8FF"/>
                </a:solidFill>
                <a:latin typeface="Courier New"/>
              </a:rPr>
              <a:t> &lt; g[v]:</a:t>
            </a: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DCE8FF"/>
                </a:solidFill>
                <a:latin typeface="Courier New"/>
              </a:rPr>
              <a:t>            parent[v] = n;  g[v] =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g_baru</a:t>
            </a:r>
            <a:endParaRPr sz="1100" b="0" dirty="0">
              <a:solidFill>
                <a:srgbClr val="DCE8FF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DCE8FF"/>
                </a:solidFill>
                <a:latin typeface="Courier New"/>
              </a:rPr>
              <a:t>            push (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g_baru</a:t>
            </a:r>
            <a:r>
              <a:rPr sz="1100" b="0" dirty="0">
                <a:solidFill>
                  <a:srgbClr val="DCE8FF"/>
                </a:solidFill>
                <a:latin typeface="Courier New"/>
              </a:rPr>
              <a:t> + h(v), v)</a:t>
            </a:r>
          </a:p>
          <a:p>
            <a:pPr>
              <a:spcAft>
                <a:spcPts val="100"/>
              </a:spcAft>
            </a:pPr>
            <a:endParaRPr sz="1100" b="0" dirty="0">
              <a:solidFill>
                <a:srgbClr val="DCE8FF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DCE8FF"/>
                </a:solidFill>
                <a:latin typeface="Courier New"/>
              </a:rPr>
              <a:t>total  = g[goal] + 30</a:t>
            </a: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DCE8FF"/>
                </a:solidFill>
                <a:latin typeface="Courier New"/>
              </a:rPr>
              <a:t>status = AMAN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jika</a:t>
            </a:r>
            <a:r>
              <a:rPr sz="1100" b="0" dirty="0">
                <a:solidFill>
                  <a:srgbClr val="DCE8FF"/>
                </a:solidFill>
                <a:latin typeface="Courier New"/>
              </a:rPr>
              <a:t> total &lt;= </a:t>
            </a:r>
            <a:r>
              <a:rPr sz="1100" b="0" dirty="0" err="1">
                <a:solidFill>
                  <a:srgbClr val="DCE8FF"/>
                </a:solidFill>
                <a:latin typeface="Courier New"/>
              </a:rPr>
              <a:t>batas_wadah</a:t>
            </a:r>
            <a:endParaRPr sz="1100" b="0" dirty="0">
              <a:solidFill>
                <a:srgbClr val="DCE8FF"/>
              </a:solidFill>
              <a:latin typeface="Courier New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852160" y="1188720"/>
            <a:ext cx="2834640" cy="1033271"/>
          </a:xfrm>
          <a:prstGeom prst="roundRect">
            <a:avLst>
              <a:gd name="adj" fmla="val 706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035040" y="1316736"/>
            <a:ext cx="384048" cy="38404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0" y="13167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316736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B2545"/>
                </a:solidFill>
                <a:latin typeface="Cambria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78308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1B2B45"/>
                </a:solidFill>
                <a:latin typeface="Calibri"/>
              </a:rPr>
              <a:t>Node, graf, dan parameter cold 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313432"/>
            <a:ext cx="2834640" cy="1033271"/>
          </a:xfrm>
          <a:prstGeom prst="roundRect">
            <a:avLst>
              <a:gd name="adj" fmla="val 706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035040" y="2441448"/>
            <a:ext cx="384048" cy="38404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24414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4144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B2545"/>
                </a:solidFill>
                <a:latin typeface="Cambria"/>
              </a:rPr>
              <a:t>A*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90779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1B2B45"/>
                </a:solidFill>
                <a:latin typeface="Calibri"/>
              </a:rPr>
              <a:t>Heuristik dan pencarian dengan faktor cuaca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438144"/>
            <a:ext cx="2834640" cy="1033271"/>
          </a:xfrm>
          <a:prstGeom prst="roundRect">
            <a:avLst>
              <a:gd name="adj" fmla="val 706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035040" y="3566160"/>
            <a:ext cx="384048" cy="38404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40" y="35661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56616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B2545"/>
                </a:solidFill>
                <a:latin typeface="Cambria"/>
              </a:rPr>
              <a:t>Kelayakan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032504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1B2B45"/>
                </a:solidFill>
                <a:latin typeface="Calibri"/>
              </a:rPr>
              <a:t>Pemeriksaan batas wadah dan status AMAN / BERISIKO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B6B82"/>
                </a:solidFill>
                <a:latin typeface="Calibri"/>
              </a:rPr>
              <a:t>Pseudocode ringkas dari implementasi Python; kode lengkap ada di repositori GitHub.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 dan Langkah Lanjut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menemukan rute waktu minimum pada 7 tujuan × 2 kondisi cuaca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Heuristik Haversine tetap admissible setelah dikalikan faktor cuaca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skenario AMAN: cakupan graf belum menguji batas wadah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E6F0FF"/>
          </a:solidFill>
          <a:ln w="12700">
            <a:solidFill>
              <a:srgbClr val="E6F0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Limitasi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8 dari 26 puskesmas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cuaca seragam di seluruh graf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vaksin belum masuk hitungan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Pengembangan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33832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26 puskesmas, cuaca BMKG real-time, rute multi-stop (TSP), batas pakai per vaksin (WHO).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0B2545"/>
                </a:solidFill>
                <a:latin typeface="Cambria"/>
              </a:rPr>
              <a:t>Referensi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2788920"/>
          </a:xfrm>
          <a:prstGeom prst="roundRect">
            <a:avLst>
              <a:gd name="adj" fmla="val 706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Dinas Kesehatan Kabupaten Sleman.</a:t>
            </a:r>
            <a:r>
              <a:rPr sz="1600" b="0">
                <a:solidFill>
                  <a:srgbClr val="1B2B45"/>
                </a:solidFill>
                <a:latin typeface="Calibri"/>
              </a:rPr>
              <a:t> Alamat Puskesmas di Kab. Sleman. dinkes.slemankab.go.id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World Health Organization.</a:t>
            </a:r>
            <a:r>
              <a:rPr sz="1600" b="0">
                <a:solidFill>
                  <a:srgbClr val="1B2B45"/>
                </a:solidFill>
                <a:latin typeface="Calibri"/>
              </a:rPr>
              <a:t> WHO guidance on vaccine storage/cold chain and reconstituted BCG handling.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World Health Organization.</a:t>
            </a:r>
            <a:r>
              <a:rPr sz="1600" b="0">
                <a:solidFill>
                  <a:srgbClr val="1B2B45"/>
                </a:solidFill>
                <a:latin typeface="Calibri"/>
              </a:rPr>
              <a:t> BCG vaccine, freeze-dried: product information.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Russell, S. J., &amp; Norvig, P.</a:t>
            </a:r>
            <a:r>
              <a:rPr sz="1600" b="0">
                <a:solidFill>
                  <a:srgbClr val="1B2B45"/>
                </a:solidFill>
                <a:latin typeface="Calibri"/>
              </a:rPr>
              <a:t> Artificial Intelligence: A Modern Approach. Pearson.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1193</Words>
  <Application>Microsoft Office PowerPoint</Application>
  <PresentationFormat>On-screen Show (16:9)</PresentationFormat>
  <Paragraphs>217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Optimasi Rute Distribusi Vaksin Sleman dengan A*</dc:title>
  <dc:subject>PptxGenJS Presentation</dc:subject>
  <dc:creator>PptxGenJS</dc:creator>
  <cp:lastModifiedBy>Maulida Musyarofah</cp:lastModifiedBy>
  <cp:revision>2</cp:revision>
  <dcterms:created xsi:type="dcterms:W3CDTF">2026-09-30T12:10:09Z</dcterms:created>
  <dcterms:modified xsi:type="dcterms:W3CDTF">2026-09-30T12:38:46Z</dcterms:modified>
</cp:coreProperties>
</file>